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200000"/>
          </a:xfrm>
          <a:prstGeom prst="rect">
            <a:avLst/>
          </a:prstGeom>
          <a:solidFill>
            <a:srgbClr val="0A1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0000"/>
            <a:ext cx="12192000" cy="600000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00000" y="1400000"/>
            <a:ext cx="3200000" cy="40000"/>
          </a:xfrm>
          <a:prstGeom prst="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000000" y="4500000"/>
            <a:ext cx="6000000" cy="6000000"/>
          </a:xfrm>
          <a:prstGeom prst="ellipse">
            <a:avLst/>
          </a:prstGeom>
          <a:solidFill>
            <a:srgbClr val="153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00000" y="-2000000"/>
            <a:ext cx="5000000" cy="5000000"/>
          </a:xfrm>
          <a:prstGeom prst="ellipse">
            <a:avLst/>
          </a:prstGeom>
          <a:solidFill>
            <a:srgbClr val="153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000" y="1600000"/>
            <a:ext cx="106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</a:rPr>
              <a:t>医院信息系统（HIS）实验课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0000" y="2600000"/>
            <a:ext cx="7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CDDFF"/>
                </a:solidFill>
                <a:latin typeface="Microsoft YaHei"/>
              </a:rPr>
              <a:t>修改与润色工作汇报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0000" y="3300000"/>
            <a:ext cx="3200000" cy="30000"/>
          </a:xfrm>
          <a:prstGeom prst="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00000" y="3600000"/>
            <a:ext cx="7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ABBDD"/>
                </a:solidFill>
                <a:latin typeface="Microsoft YaHei"/>
              </a:rPr>
              <a:t>医学信息学系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0000" y="4200000"/>
            <a:ext cx="7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7788"/>
                </a:solidFill>
                <a:latin typeface="Microsoft YaHei"/>
              </a:rPr>
              <a:t>2026 年 6 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000" y="630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7788"/>
                </a:solidFill>
                <a:latin typeface="Microsoft YaHei"/>
              </a:rPr>
              <a:t>——  博学至精  明德至善  ——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0000" cy="6858000"/>
          </a:xfrm>
          <a:prstGeom prst="rect">
            <a:avLst/>
          </a:prstGeom>
          <a:solidFill>
            <a:srgbClr val="0D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500000"/>
            <a:ext cx="3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目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1600000" y="1100000"/>
            <a:ext cx="1000000" cy="30000"/>
          </a:xfrm>
          <a:prstGeom prst="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1500000"/>
            <a:ext cx="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77BB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000000"/>
            <a:ext cx="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77BB"/>
                </a:solidFill>
                <a:latin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2500000"/>
            <a:ext cx="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77BB"/>
                </a:solidFill>
                <a:latin typeface="Microsoft YaHe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3000000"/>
            <a:ext cx="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77BB"/>
                </a:solidFill>
                <a:latin typeface="Microsoft YaHe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3500000"/>
            <a:ext cx="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77BB"/>
                </a:solidFill>
                <a:latin typeface="Microsoft YaHe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4000000"/>
            <a:ext cx="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77BB"/>
                </a:solidFill>
                <a:latin typeface="Microsoft YaHei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4500000"/>
            <a:ext cx="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77BB"/>
                </a:solidFill>
                <a:latin typeface="Microsoft YaHei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5000000"/>
            <a:ext cx="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77BB"/>
                </a:solidFill>
                <a:latin typeface="Microsoft YaHei"/>
              </a:rPr>
              <a:t>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000" y="5500000"/>
            <a:ext cx="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77BB"/>
                </a:solidFill>
                <a:latin typeface="Microsoft YaHei"/>
              </a:rPr>
              <a:t>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0000" y="500000"/>
            <a:ext cx="7200000" cy="58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000" y="580000"/>
            <a:ext cx="6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Microsoft YaHei"/>
              </a:rPr>
              <a:t>项目简介与环境配置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00000" y="1150000"/>
            <a:ext cx="7200000" cy="5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000" y="1230000"/>
            <a:ext cx="6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Microsoft YaHei"/>
              </a:rPr>
              <a:t>实验课 1 — 登录与用户信息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00000" y="1800000"/>
            <a:ext cx="7200000" cy="58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000" y="1880000"/>
            <a:ext cx="6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Microsoft YaHei"/>
              </a:rPr>
              <a:t>实验课 2 — 挂号表单优化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00000" y="2450000"/>
            <a:ext cx="7200000" cy="5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000" y="2530000"/>
            <a:ext cx="6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Microsoft YaHei"/>
              </a:rPr>
              <a:t>实验课 3 — 病历管理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0000" y="3100000"/>
            <a:ext cx="7200000" cy="58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000" y="3180000"/>
            <a:ext cx="6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Microsoft YaHei"/>
              </a:rPr>
              <a:t>实验课 4 — 医嘱管理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00000" y="3750000"/>
            <a:ext cx="7200000" cy="5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000" y="3830000"/>
            <a:ext cx="6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Microsoft YaHei"/>
              </a:rPr>
              <a:t>实验课 5 — 缴费与支付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00000" y="4400000"/>
            <a:ext cx="7200000" cy="58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000" y="4480000"/>
            <a:ext cx="6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Microsoft YaHei"/>
              </a:rPr>
              <a:t>实验课 6 — 数据可视化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00000" y="5050000"/>
            <a:ext cx="7200000" cy="5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000" y="5130000"/>
            <a:ext cx="6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Microsoft YaHei"/>
              </a:rPr>
              <a:t>实验课 7 — 检验检查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00000" y="5700000"/>
            <a:ext cx="7200000" cy="58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000" y="5780000"/>
            <a:ext cx="6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Microsoft YaHei"/>
              </a:rPr>
              <a:t>总结与收获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0000" y="400000"/>
            <a:ext cx="40000" cy="6000000"/>
          </a:xfrm>
          <a:prstGeom prst="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项目简介与环境配置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0000"/>
          </a:xfrm>
          <a:prstGeom prst="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0000" y="800000"/>
            <a:ext cx="5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34B"/>
                </a:solidFill>
                <a:latin typeface="Microsoft YaHei"/>
              </a:rPr>
              <a:t>📋 项目概述</a:t>
            </a:r>
          </a:p>
        </p:txBody>
      </p:sp>
      <p:sp>
        <p:nvSpPr>
          <p:cNvPr id="6" name="Rectangle 5"/>
          <p:cNvSpPr/>
          <p:nvPr/>
        </p:nvSpPr>
        <p:spPr>
          <a:xfrm>
            <a:off x="300000" y="1080000"/>
            <a:ext cx="800000" cy="30000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0000" y="1200000"/>
            <a:ext cx="56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Microsoft YaHei"/>
              </a:rPr>
              <a:t>• 基于 Spring Boot + Vue.js 的医院信息系统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Microsoft YaHei"/>
              </a:rPr>
              <a:t>• 包含挂号、病历、医嘱、缴费、检验等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Microsoft YaHei"/>
              </a:rPr>
              <a:t>      核心医疗业务流程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Microsoft YaHei"/>
              </a:rPr>
              <a:t>• 数据库使用 MySQL，共 9 张核心表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Microsoft YaHei"/>
              </a:rPr>
              <a:t>• 前后端分离架构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000" y="800000"/>
            <a:ext cx="5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34B"/>
                </a:solidFill>
                <a:latin typeface="Microsoft YaHei"/>
              </a:rPr>
              <a:t>⚙️ 环境配置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000" y="1080000"/>
            <a:ext cx="800000" cy="30000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000" y="1200000"/>
            <a:ext cx="56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Microsoft YaHei"/>
              </a:rPr>
              <a:t>• JDK 17 (Temurin-17.0.19)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Microsoft YaHei"/>
              </a:rPr>
              <a:t>• Node.js 22 LTS + npm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Microsoft YaHei"/>
              </a:rPr>
              <a:t>• MySQL 数据库 (his)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Microsoft YaHei"/>
              </a:rPr>
              <a:t>• 前后端分离部署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Microsoft YaHei"/>
              </a:rPr>
              <a:t>• 修复 BOM 编码与依赖冲突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000" y="3600000"/>
            <a:ext cx="11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34B"/>
                </a:solidFill>
                <a:latin typeface="Microsoft YaHei"/>
              </a:rPr>
              <a:t>🗄️  数据库表结构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0000" y="3880000"/>
            <a:ext cx="800000" cy="30000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0000" y="4000000"/>
            <a:ext cx="11400000" cy="250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" y="4100000"/>
            <a:ext cx="111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</a:rPr>
              <a:t>tb_user（用户/医生）    tb_patient（患者）     tb_visit（就诊记录）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</a:rPr>
              <a:t>tb_medical_record（病历）  tb_medical_order（医嘱）  tb_drug_info（药品）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C3E50"/>
                </a:solidFill>
                <a:latin typeface="Microsoft YaHei"/>
              </a:rPr>
              <a:t>tb_settlement（结算）    tb_check_apply（检验申请）  tb_check_result（检验结果）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D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000" y="6660000"/>
            <a:ext cx="11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788"/>
                </a:solidFill>
                <a:latin typeface="Microsoft YaHei"/>
              </a:rPr>
              <a:t>医院信息系统实验课 · 修改与润色汇报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D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实验课 1 — 登录与用户信息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0000"/>
          </a:xfrm>
          <a:prstGeom prst="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0000" y="900000"/>
            <a:ext cx="5600000" cy="5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0010" y="900010"/>
            <a:ext cx="5599980" cy="400000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000" y="96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密码显示控制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45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将两个 v-show 切换的密码框合并为一个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87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添加可点击眼睛图标切换密码显隐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229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新增 togglePasswordShow() 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271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788"/>
                </a:solidFill>
                <a:latin typeface="Microsoft YaHei"/>
              </a:rPr>
              <a:t>✦  文件: src/components/Login.vue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000" y="900000"/>
            <a:ext cx="5600000" cy="5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0010" y="900010"/>
            <a:ext cx="5599980" cy="400000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0000" y="96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用户信息显示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000" y="145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医生名按钮添加 @click 事件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0000" y="187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新增 el-dialog 弹窗展示详细信息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0000" y="229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显示用户名、邮箱、医生类型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0000" y="271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788"/>
                </a:solidFill>
                <a:latin typeface="Microsoft YaHei"/>
              </a:rPr>
              <a:t>✦  文件: src/components/Home.vue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D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000" y="6660000"/>
            <a:ext cx="11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788"/>
                </a:solidFill>
                <a:latin typeface="Microsoft YaHei"/>
              </a:rPr>
              <a:t>医院信息系统实验课 · 修改与润色汇报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D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实验课 2 — 挂号表单优化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0000"/>
          </a:xfrm>
          <a:prstGeom prst="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0000" y="900000"/>
            <a:ext cx="5600000" cy="5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0010" y="900010"/>
            <a:ext cx="5599980" cy="40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000" y="96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挂号类型过滤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45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挂号类型（普通/专家）选择后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87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自动过滤医生下拉框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229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mounted 时自动触发过滤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271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788"/>
                </a:solidFill>
                <a:latin typeface="Microsoft YaHei"/>
              </a:rPr>
              <a:t>✦  文件: src/components/PushPatiVisit.vue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000" y="900000"/>
            <a:ext cx="5600000" cy="5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0010" y="900010"/>
            <a:ext cx="5599980" cy="40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0000" y="96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优化效果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000" y="145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医生选择更精准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0000" y="187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减少用户误操作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0000" y="229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提升挂号效率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D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000" y="6660000"/>
            <a:ext cx="11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788"/>
                </a:solidFill>
                <a:latin typeface="Microsoft YaHei"/>
              </a:rPr>
              <a:t>医院信息系统实验课 · 修改与润色汇报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D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实验课 3 — 病历管理功能增强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0000"/>
          </a:xfrm>
          <a:prstGeom prst="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0000" y="900000"/>
            <a:ext cx="5600000" cy="5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0010" y="900010"/>
            <a:ext cx="5599980" cy="400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000" y="96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病历打印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45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新增「打印病历」按钮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87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el-dialog 弹窗格式化预览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229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调用浏览器 window.print()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271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788"/>
                </a:solidFill>
                <a:latin typeface="Microsoft YaHei"/>
              </a:rPr>
              <a:t>✦  文件: src/components/MedicalRecord.vue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000" y="900000"/>
            <a:ext cx="5600000" cy="5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0010" y="900010"/>
            <a:ext cx="5599980" cy="400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0000" y="96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搜索与标识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000" y="145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按诊断名/ICD/拼音首字母搜索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0000" y="187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已提交患者显示绿色勾图标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0000" y="229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用户体验显著提升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0000" y="271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788"/>
                </a:solidFill>
                <a:latin typeface="Microsoft YaHei"/>
              </a:rPr>
              <a:t>✦  文件: src/components/MedicalRecord.vue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D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000" y="6660000"/>
            <a:ext cx="11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788"/>
                </a:solidFill>
                <a:latin typeface="Microsoft YaHei"/>
              </a:rPr>
              <a:t>医院信息系统实验课 · 修改与润色汇报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D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实验课 4 — 医嘱管理优化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0000"/>
          </a:xfrm>
          <a:prstGeom prst="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0000" y="900000"/>
            <a:ext cx="5600000" cy="5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0010" y="900010"/>
            <a:ext cx="5599980" cy="400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000" y="96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表单重置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45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每次打开医嘱弹窗时重置字段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87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防止上次数值残留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229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otalOrder 和 orderallprice 清空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271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788"/>
                </a:solidFill>
                <a:latin typeface="Microsoft YaHei"/>
              </a:rPr>
              <a:t>✦  文件: src/components/MedicalOrder.vue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000" y="900000"/>
            <a:ext cx="5600000" cy="5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0010" y="900010"/>
            <a:ext cx="5599980" cy="400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0000" y="96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医嘱行变色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000" y="145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按 ordertype 显示不同背景色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0000" y="187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药品→绿色 / 检查→橙色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0000" y="229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治疗→蓝色 / 检验→紫色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0000" y="271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788"/>
                </a:solidFill>
                <a:latin typeface="Microsoft YaHei"/>
              </a:rPr>
              <a:t>✦  文件: src/components/MedicalOrder.vue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D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000" y="6660000"/>
            <a:ext cx="11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788"/>
                </a:solidFill>
                <a:latin typeface="Microsoft YaHei"/>
              </a:rPr>
              <a:t>医院信息系统实验课 · 修改与润色汇报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D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实验课 5 — 缴费与支付优化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0000"/>
          </a:xfrm>
          <a:prstGeom prst="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0000" y="900000"/>
            <a:ext cx="5600000" cy="5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0010" y="900010"/>
            <a:ext cx="5599980" cy="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000" y="96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支付结果同步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45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修复 outPay 异步执行顺序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87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改用 for...of 逐条处理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229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支付成功后自动关闭页面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271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788"/>
                </a:solidFill>
                <a:latin typeface="Microsoft YaHei"/>
              </a:rPr>
              <a:t>✦  文件: src/components/OutBillPay.vue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000" y="900000"/>
            <a:ext cx="5600000" cy="5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0010" y="900010"/>
            <a:ext cx="5599980" cy="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0000" y="96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布尔值显示优化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000" y="145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ispaid 列显示「是/否」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0000" y="187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替代原来的 true/false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0000" y="229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更符合中文使用习惯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0000" y="271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788"/>
                </a:solidFill>
                <a:latin typeface="Microsoft YaHei"/>
              </a:rPr>
              <a:t>✦  文件: src/components/MedicalOrder.vue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D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000" y="6660000"/>
            <a:ext cx="11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788"/>
                </a:solidFill>
                <a:latin typeface="Microsoft YaHei"/>
              </a:rPr>
              <a:t>医院信息系统实验课 · 修改与润色汇报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D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实验课 6 — 数据可视化增强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0000"/>
          </a:xfrm>
          <a:prstGeom prst="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0000" y="900000"/>
            <a:ext cx="5600000" cy="5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0010" y="900010"/>
            <a:ext cx="5599980" cy="4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000" y="96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第四张卡片图表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45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实现「当日医嘱类型分布」柱状图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87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从 API 获取 code='04' 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229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新增 updateOrderDistChart()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271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788"/>
                </a:solidFill>
                <a:latin typeface="Microsoft YaHei"/>
              </a:rPr>
              <a:t>✦  文件: src/components/DataView.vue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000" y="900000"/>
            <a:ext cx="5600000" cy="5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0010" y="900010"/>
            <a:ext cx="5599980" cy="4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0000" y="96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卡片放大功能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000" y="145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每张卡片添加全屏图标按钮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0000" y="187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点击弹出 el-dialog 大窗口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0000" y="229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复制原图表配置到弹窗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0000" y="271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788"/>
                </a:solidFill>
                <a:latin typeface="Microsoft YaHei"/>
              </a:rPr>
              <a:t>✦  文件: src/components/DataView.vue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D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000" y="6660000"/>
            <a:ext cx="11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788"/>
                </a:solidFill>
                <a:latin typeface="Microsoft YaHei"/>
              </a:rPr>
              <a:t>医院信息系统实验课 · 修改与润色汇报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D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实验课 7 — 检验检查模块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0000"/>
          </a:xfrm>
          <a:prstGeom prst="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0000" y="900000"/>
            <a:ext cx="5600000" cy="5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0010" y="900010"/>
            <a:ext cx="5599980" cy="40000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000" y="96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编辑/删除/查询/高亮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45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新增编辑弹窗与删除确认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87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788"/>
                </a:solidFill>
                <a:latin typeface="Microsoft YaHei"/>
              </a:rPr>
              <a:t>✦  新增后端 DELETE 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229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日期范围选择器筛选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271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异常值红/黄高亮显示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313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7788"/>
                </a:solidFill>
                <a:latin typeface="Microsoft YaHei"/>
              </a:rPr>
              <a:t>✦  文件: LabCheck.vue + 后端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000" y="900000"/>
            <a:ext cx="5600000" cy="5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10" y="900010"/>
            <a:ext cx="5599980" cy="40000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0000" y="96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缴费联动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0000" y="145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提交检验申请时自动创建医嘱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0000" y="187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ordertype='检验' 类型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0000" y="229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接入原有缴费流程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0000" y="271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icrosoft YaHei"/>
              </a:rPr>
              <a:t>✦  打通检验→缴费全链路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D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0000" y="6660000"/>
            <a:ext cx="11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788"/>
                </a:solidFill>
                <a:latin typeface="Microsoft YaHei"/>
              </a:rPr>
              <a:t>医院信息系统实验课 · 修改与润色汇报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0000"/>
            <a:ext cx="12192000" cy="200000"/>
          </a:xfrm>
          <a:prstGeom prst="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0000" y="150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总 结 与 收 获</a:t>
            </a:r>
          </a:p>
        </p:txBody>
      </p:sp>
      <p:sp>
        <p:nvSpPr>
          <p:cNvPr id="5" name="Rectangle 4"/>
          <p:cNvSpPr/>
          <p:nvPr/>
        </p:nvSpPr>
        <p:spPr>
          <a:xfrm>
            <a:off x="4600000" y="2400000"/>
            <a:ext cx="3000000" cy="30000"/>
          </a:xfrm>
          <a:prstGeom prst="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28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Microsoft YaHei"/>
              </a:rPr>
              <a:t>✓  完成了 7 个实验课的代码修改与功能优化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1200000" y="2850000"/>
            <a:ext cx="50000" cy="50000"/>
          </a:xfrm>
          <a:prstGeom prst="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0000" y="33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Microsoft YaHei"/>
              </a:rPr>
              <a:t>✓  覆盖登录、挂号、病历、医嘱、缴费、可视化、检验核心模块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000" y="3350000"/>
            <a:ext cx="50000" cy="50000"/>
          </a:xfrm>
          <a:prstGeom prst="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0000" y="38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Microsoft YaHei"/>
              </a:rPr>
              <a:t>✓  修复了 BOM 编码、依赖冲突、异步执行等工程问题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000" y="3850000"/>
            <a:ext cx="50000" cy="50000"/>
          </a:xfrm>
          <a:prstGeom prst="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0000" y="43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Microsoft YaHei"/>
              </a:rPr>
              <a:t>✓  改进了用户体验：密码显隐、搜索过滤、行变色、异常高亮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000" y="4350000"/>
            <a:ext cx="50000" cy="50000"/>
          </a:xfrm>
          <a:prstGeom prst="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0000" y="4800000"/>
            <a:ext cx="9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  <a:latin typeface="Microsoft YaHei"/>
              </a:rPr>
              <a:t>✓  打通了检验申请→医嘱创建→缴费的完整业务流程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000" y="4850000"/>
            <a:ext cx="50000" cy="50000"/>
          </a:xfrm>
          <a:prstGeom prst="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0000" y="5800000"/>
            <a:ext cx="6200000" cy="700000"/>
          </a:xfrm>
          <a:prstGeom prst="roundRect">
            <a:avLst/>
          </a:prstGeom>
          <a:solidFill>
            <a:srgbClr val="153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00000" y="5850000"/>
            <a:ext cx="6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53C"/>
                </a:solidFill>
                <a:latin typeface="Microsoft YaHei"/>
              </a:rPr>
              <a:t>修改涉及 8 个前端组件 + 3 个后端文件  |  共 11 个文件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0000" y="650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7788"/>
                </a:solidFill>
                <a:latin typeface="Microsoft YaHei"/>
              </a:rPr>
              <a:t>——  博学至精  明德至善  ——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00000" y="-1500000"/>
            <a:ext cx="5000000" cy="5000000"/>
          </a:xfrm>
          <a:prstGeom prst="ellipse">
            <a:avLst/>
          </a:prstGeom>
          <a:solidFill>
            <a:srgbClr val="153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0000" y="3500000"/>
            <a:ext cx="4000000" cy="4000000"/>
          </a:xfrm>
          <a:prstGeom prst="ellipse">
            <a:avLst/>
          </a:prstGeom>
          <a:solidFill>
            <a:srgbClr val="153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000000"/>
            <a:ext cx="12192000" cy="100000"/>
          </a:xfrm>
          <a:prstGeom prst="rect">
            <a:avLst/>
          </a:prstGeom>
          <a:solidFill>
            <a:srgbClr val="D4A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00000"/>
            <a:ext cx="10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YaHei"/>
              </a:rPr>
              <a:t>感谢聆听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0" y="3300000"/>
            <a:ext cx="10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7788"/>
                </a:solidFill>
                <a:latin typeface="Microsoft YaHei"/>
              </a:rPr>
              <a:t>Thank You for Listening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650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7788"/>
                </a:solidFill>
                <a:latin typeface="Microsoft YaHei"/>
              </a:rPr>
              <a:t>——  博学至精  明德至善  ——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